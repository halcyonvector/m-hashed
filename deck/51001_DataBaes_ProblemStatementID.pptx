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embeddedFontLst>
    <p:embeddedFont>
      <p:font typeface="Impact" panose="020B0806030902050204" pitchFamily="34" charset="0"/>
      <p:regular r:id="rId8"/>
    </p:embeddedFont>
    <p:embeddedFont>
      <p:font typeface="Roboto Mono" panose="020F0502020204030204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1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af6f2e33e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af6f2e33e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af6f2e33e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af6f2e33e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af6f2e33e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af6f2e33e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af6f2e33e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af6f2e33e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174352" y="368775"/>
            <a:ext cx="6795300" cy="7281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0124D"/>
                </a:solidFill>
                <a:latin typeface="Impact"/>
                <a:ea typeface="Impact"/>
                <a:cs typeface="Impact"/>
                <a:sym typeface="Impact"/>
              </a:rPr>
              <a:t>Manipal Hackathon 2026</a:t>
            </a:r>
            <a:endParaRPr>
              <a:solidFill>
                <a:srgbClr val="20124D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12050" y="1683300"/>
            <a:ext cx="9144000" cy="30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Team Name: DataBaes</a:t>
            </a:r>
            <a:endParaRPr sz="2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Track: Sustainable Cities and Communities (SDG 11)</a:t>
            </a:r>
            <a:endParaRPr sz="2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Problem Statement: Cascading Failure - When One Failure Becomes Many</a:t>
            </a:r>
            <a:endParaRPr sz="2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Solution Title: Ripple</a:t>
            </a:r>
            <a:endParaRPr sz="2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Team Members: Sagnik Basu, Man Mohit Kumar, Yashaswi Mohan, Pagavath D P, Amritanshu</a:t>
            </a:r>
            <a:endParaRPr sz="2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l="10"/>
          <a:stretch/>
        </p:blipFill>
        <p:spPr>
          <a:xfrm>
            <a:off x="8195825" y="86900"/>
            <a:ext cx="832675" cy="61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51C75"/>
                </a:solidFill>
                <a:latin typeface="Impact"/>
                <a:ea typeface="Impact"/>
                <a:cs typeface="Impact"/>
                <a:sym typeface="Impact"/>
              </a:rPr>
              <a:t>Solution</a:t>
            </a:r>
            <a:endParaRPr>
              <a:solidFill>
                <a:srgbClr val="351C7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l="10"/>
          <a:stretch/>
        </p:blipFill>
        <p:spPr>
          <a:xfrm>
            <a:off x="8195825" y="86900"/>
            <a:ext cx="832675" cy="6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TextBox 63"/>
          <p:cNvSpPr txBox="1"/>
          <p:nvPr/>
        </p:nvSpPr>
        <p:spPr>
          <a:xfrm>
            <a:off x="384048" y="1298448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E7C9A"/>
                </a:solidFill>
                <a:latin typeface="Roboto Mono"/>
              </a:rPr>
              <a:t>THE PROBLEM, AND OUR APPROACH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4048" y="1517904"/>
            <a:ext cx="83759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1">
                <a:solidFill>
                  <a:srgbClr val="351C75"/>
                </a:solidFill>
                <a:latin typeface="Arial"/>
              </a:rPr>
              <a:t>A single flooded bridge can cut off a hospital nobody thought was at risk.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84048" y="1920240"/>
            <a:ext cx="2700528" cy="987552"/>
          </a:xfrm>
          <a:prstGeom prst="roundRect">
            <a:avLst>
              <a:gd name="adj" fmla="val 8000"/>
            </a:avLst>
          </a:prstGeom>
          <a:solidFill>
            <a:srgbClr val="0E7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493776" y="2002536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0E7C9A"/>
                </a:solidFill>
                <a:latin typeface="Arial"/>
              </a:rPr>
              <a:t>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0352" y="2340864"/>
            <a:ext cx="2407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FFFFFF"/>
                </a:solidFill>
                <a:latin typeface="Arial"/>
              </a:rPr>
              <a:t>Real, not hypothetical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0352" y="2542032"/>
            <a:ext cx="2407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Built on real OpenStreetMap positions and NASA / USGS SRTM elevation data.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221736" y="1920240"/>
            <a:ext cx="2700528" cy="987552"/>
          </a:xfrm>
          <a:prstGeom prst="roundRect">
            <a:avLst>
              <a:gd name="adj" fmla="val 8000"/>
            </a:avLst>
          </a:prstGeom>
          <a:solidFill>
            <a:srgbClr val="C4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3331464" y="2002536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C4453A"/>
                </a:solidFill>
                <a:latin typeface="Arial"/>
              </a:rPr>
              <a:t>=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68040" y="2340864"/>
            <a:ext cx="2407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FFFFFF"/>
                </a:solidFill>
                <a:latin typeface="Arial"/>
              </a:rPr>
              <a:t>Equity-weighted impact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68040" y="2542032"/>
            <a:ext cx="2407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Every failure is scored by who it affects, not just how many assets fail.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059424" y="1920240"/>
            <a:ext cx="2700528" cy="987552"/>
          </a:xfrm>
          <a:prstGeom prst="roundRect">
            <a:avLst>
              <a:gd name="adj" fmla="val 8000"/>
            </a:avLst>
          </a:prstGeom>
          <a:solidFill>
            <a:srgbClr val="C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6169152" y="2002536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C97A1F"/>
                </a:solidFill>
                <a:latin typeface="Arial"/>
              </a:rPr>
              <a:t>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05728" y="2340864"/>
            <a:ext cx="2407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FFFFFF"/>
                </a:solidFill>
                <a:latin typeface="Arial"/>
              </a:rPr>
              <a:t>Capacity-aware, not binary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05728" y="2542032"/>
            <a:ext cx="2407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A backup tie can rescue a failed pump, but only up to its rated capacity.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4048" y="2962656"/>
            <a:ext cx="83759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51C75"/>
                </a:solidFill>
                <a:latin typeface="Roboto Mono"/>
              </a:rPr>
              <a:t>WHAT THE REAL DATA REVEALED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84048" y="3182112"/>
            <a:ext cx="8375904" cy="1737360"/>
          </a:xfrm>
          <a:prstGeom prst="roundRect">
            <a:avLst>
              <a:gd name="adj" fmla="val 6000"/>
            </a:avLst>
          </a:prstGeom>
          <a:solidFill>
            <a:srgbClr val="F5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0" name="Picture 79" descr="map_fig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320407"/>
            <a:ext cx="2590800" cy="14607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1" name="TextBox 80"/>
          <p:cNvSpPr txBox="1"/>
          <p:nvPr/>
        </p:nvSpPr>
        <p:spPr>
          <a:xfrm>
            <a:off x="3593592" y="3364992"/>
            <a:ext cx="500176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242228"/>
                </a:solidFill>
                <a:latin typeface="Arial"/>
              </a:rPr>
              <a:t>Every hospital sits at 24 to 102 metres. The real risk is two low crossings the elevation data itself surfaced.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93592" y="4005072"/>
            <a:ext cx="500176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B5763"/>
                </a:solidFill>
                <a:latin typeface="Arial"/>
              </a:rPr>
              <a:t>Malpe Bridge: 0.0m. A creek crossing near Kaup: 4.0m. Cut either one and people lose hospital access, with no building ever flooding.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593592" y="4572000"/>
            <a:ext cx="5001768" cy="310896"/>
          </a:xfrm>
          <a:prstGeom prst="roundRect">
            <a:avLst>
              <a:gd name="adj" fmla="val 22000"/>
            </a:avLst>
          </a:prstGeom>
          <a:solidFill>
            <a:srgbClr val="EF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270248" y="4594860"/>
            <a:ext cx="472744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1" dirty="0">
                <a:solidFill>
                  <a:srgbClr val="1E8E5A"/>
                </a:solidFill>
                <a:latin typeface="Arial"/>
              </a:rPr>
              <a:t>The elevation data revealed this risk. We did not design it 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51C75"/>
                </a:solidFill>
                <a:latin typeface="Impact"/>
                <a:ea typeface="Impact"/>
                <a:cs typeface="Impact"/>
                <a:sym typeface="Impact"/>
              </a:rPr>
              <a:t>Technical Implementation</a:t>
            </a:r>
            <a:endParaRPr>
              <a:solidFill>
                <a:srgbClr val="351C7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l="10"/>
          <a:stretch/>
        </p:blipFill>
        <p:spPr>
          <a:xfrm>
            <a:off x="8195825" y="86900"/>
            <a:ext cx="832675" cy="6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TextBox 70"/>
          <p:cNvSpPr txBox="1"/>
          <p:nvPr/>
        </p:nvSpPr>
        <p:spPr>
          <a:xfrm>
            <a:off x="384048" y="1298448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E7C9A"/>
                </a:solidFill>
                <a:latin typeface="Roboto Mono"/>
              </a:rPr>
              <a:t>ARCHITECTURE, ALGORITHMS AND WHAT IS NEW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048" y="1536192"/>
            <a:ext cx="83759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51C75"/>
                </a:solidFill>
                <a:latin typeface="Arial"/>
              </a:rPr>
              <a:t>Real data in, an interactive simulation out, entirely in the browser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4048" y="1847088"/>
            <a:ext cx="1991106" cy="914400"/>
          </a:xfrm>
          <a:prstGeom prst="roundRect">
            <a:avLst>
              <a:gd name="adj" fmla="val 10000"/>
            </a:avLst>
          </a:prstGeom>
          <a:solidFill>
            <a:srgbClr val="0E7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02920" y="1938528"/>
            <a:ext cx="175336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OSM + SRTM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2920" y="2267712"/>
            <a:ext cx="175336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Live positions and real elevation, via Overpass and OpenTopoData</a:t>
            </a:r>
          </a:p>
        </p:txBody>
      </p:sp>
      <p:sp>
        <p:nvSpPr>
          <p:cNvPr id="76" name="Chevron 75"/>
          <p:cNvSpPr/>
          <p:nvPr/>
        </p:nvSpPr>
        <p:spPr>
          <a:xfrm>
            <a:off x="2379726" y="2231136"/>
            <a:ext cx="128016" cy="146304"/>
          </a:xfrm>
          <a:prstGeom prst="chevron">
            <a:avLst>
              <a:gd name="adj" fmla="val 65000"/>
            </a:avLst>
          </a:prstGeom>
          <a:solidFill>
            <a:srgbClr val="8A8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2512314" y="1847088"/>
            <a:ext cx="1991106" cy="914400"/>
          </a:xfrm>
          <a:prstGeom prst="roundRect">
            <a:avLst>
              <a:gd name="adj" fmla="val 10000"/>
            </a:avLst>
          </a:prstGeom>
          <a:solidFill>
            <a:srgbClr val="351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631186" y="1938528"/>
            <a:ext cx="175336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32-asset network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31186" y="2267712"/>
            <a:ext cx="175336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25 verified, 7 estimated utility placeholders, clearly marked</a:t>
            </a:r>
          </a:p>
        </p:txBody>
      </p:sp>
      <p:sp>
        <p:nvSpPr>
          <p:cNvPr id="80" name="Chevron 79"/>
          <p:cNvSpPr/>
          <p:nvPr/>
        </p:nvSpPr>
        <p:spPr>
          <a:xfrm>
            <a:off x="4507992" y="2231136"/>
            <a:ext cx="128016" cy="146304"/>
          </a:xfrm>
          <a:prstGeom prst="chevron">
            <a:avLst>
              <a:gd name="adj" fmla="val 65000"/>
            </a:avLst>
          </a:prstGeom>
          <a:solidFill>
            <a:srgbClr val="8A8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4640580" y="1847088"/>
            <a:ext cx="1991106" cy="914400"/>
          </a:xfrm>
          <a:prstGeom prst="roundRect">
            <a:avLst>
              <a:gd name="adj" fmla="val 10000"/>
            </a:avLst>
          </a:prstGeom>
          <a:solidFill>
            <a:srgbClr val="C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759452" y="1938528"/>
            <a:ext cx="175336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Client-side engine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59452" y="2267712"/>
            <a:ext cx="175336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Cascade, routing, centrality and the optimizer run instantly</a:t>
            </a:r>
          </a:p>
        </p:txBody>
      </p:sp>
      <p:sp>
        <p:nvSpPr>
          <p:cNvPr id="84" name="Chevron 83"/>
          <p:cNvSpPr/>
          <p:nvPr/>
        </p:nvSpPr>
        <p:spPr>
          <a:xfrm>
            <a:off x="6636258" y="2231136"/>
            <a:ext cx="128016" cy="146304"/>
          </a:xfrm>
          <a:prstGeom prst="chevron">
            <a:avLst>
              <a:gd name="adj" fmla="val 65000"/>
            </a:avLst>
          </a:prstGeom>
          <a:solidFill>
            <a:srgbClr val="8A8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6768846" y="1847088"/>
            <a:ext cx="1991106" cy="914400"/>
          </a:xfrm>
          <a:prstGeom prst="roundRect">
            <a:avLst>
              <a:gd name="adj" fmla="val 10000"/>
            </a:avLst>
          </a:prstGeom>
          <a:solidFill>
            <a:srgbClr val="C4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887718" y="1938528"/>
            <a:ext cx="175336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Interactive UI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87718" y="2267712"/>
            <a:ext cx="175336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Slider, critical-asset view, routing, ranked interventions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84048" y="2871216"/>
            <a:ext cx="4119372" cy="749808"/>
          </a:xfrm>
          <a:prstGeom prst="roundRect">
            <a:avLst>
              <a:gd name="adj" fmla="val 10000"/>
            </a:avLst>
          </a:prstGeom>
          <a:solidFill>
            <a:srgbClr val="F5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512064" y="2962656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0E7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12064" y="2994660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Roboto Mono"/>
              </a:rPr>
              <a:t>BFS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472184" y="2962656"/>
            <a:ext cx="28849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42228"/>
                </a:solidFill>
                <a:latin typeface="Arial"/>
              </a:rPr>
              <a:t>Cascade propagation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12064" y="3236976"/>
            <a:ext cx="38633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B5763"/>
                </a:solidFill>
                <a:latin typeface="Arial"/>
              </a:rPr>
              <a:t>Traces power, water and road failure through the network on every change.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640580" y="2871216"/>
            <a:ext cx="4119372" cy="749808"/>
          </a:xfrm>
          <a:prstGeom prst="roundRect">
            <a:avLst>
              <a:gd name="adj" fmla="val 10000"/>
            </a:avLst>
          </a:prstGeom>
          <a:solidFill>
            <a:srgbClr val="F5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4768596" y="2962656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0E7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768596" y="2994660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Roboto Mono"/>
              </a:rPr>
              <a:t>Dijkstra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728716" y="2962656"/>
            <a:ext cx="28849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42228"/>
                </a:solidFill>
                <a:latin typeface="Arial"/>
              </a:rPr>
              <a:t>Shortest vs. safest routing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768596" y="3236976"/>
            <a:ext cx="38633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B5763"/>
                </a:solidFill>
                <a:latin typeface="Arial"/>
              </a:rPr>
              <a:t>Compares the pre-flood route to the best surviving route today.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84048" y="3712464"/>
            <a:ext cx="4119372" cy="749808"/>
          </a:xfrm>
          <a:prstGeom prst="roundRect">
            <a:avLst>
              <a:gd name="adj" fmla="val 10000"/>
            </a:avLst>
          </a:prstGeom>
          <a:solidFill>
            <a:srgbClr val="F5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512064" y="3803904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0E7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12064" y="3835908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Roboto Mono"/>
              </a:rPr>
              <a:t>Brandes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472184" y="3803904"/>
            <a:ext cx="28849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42228"/>
                </a:solidFill>
                <a:latin typeface="Arial"/>
              </a:rPr>
              <a:t>Betweenness centrality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12064" y="4078224"/>
            <a:ext cx="38633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B5763"/>
                </a:solidFill>
                <a:latin typeface="Arial"/>
              </a:rPr>
              <a:t>Ranks assets by connections lost if that one asset failed, any scenario.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640580" y="3712464"/>
            <a:ext cx="4119372" cy="749808"/>
          </a:xfrm>
          <a:prstGeom prst="roundRect">
            <a:avLst>
              <a:gd name="adj" fmla="val 10000"/>
            </a:avLst>
          </a:prstGeom>
          <a:solidFill>
            <a:srgbClr val="F5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4768596" y="3803904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0E7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768596" y="3835908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Roboto Mono"/>
              </a:rPr>
              <a:t>Knapsack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728716" y="3803904"/>
            <a:ext cx="28849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42228"/>
                </a:solidFill>
                <a:latin typeface="Arial"/>
              </a:rPr>
              <a:t>Budget-constrained optimizer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768596" y="4078224"/>
            <a:ext cx="38633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B5763"/>
                </a:solidFill>
                <a:latin typeface="Arial"/>
              </a:rPr>
              <a:t>Best mitigation portfolio across multiple scenarios, not just one.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84048" y="4590288"/>
            <a:ext cx="8375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1">
                <a:solidFill>
                  <a:srgbClr val="C4453A"/>
                </a:solidFill>
                <a:latin typeface="Arial"/>
              </a:rPr>
              <a:t>The overload model, capacity-limited backup ties between substations and pumps, was built specifically for this brief.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51C75"/>
                </a:solidFill>
                <a:latin typeface="Impact"/>
                <a:ea typeface="Impact"/>
                <a:cs typeface="Impact"/>
                <a:sym typeface="Impact"/>
              </a:rPr>
              <a:t>Feasibility</a:t>
            </a:r>
            <a:endParaRPr>
              <a:solidFill>
                <a:srgbClr val="351C7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 rotWithShape="1">
          <a:blip r:embed="rId3">
            <a:alphaModFix/>
          </a:blip>
          <a:srcRect l="10"/>
          <a:stretch/>
        </p:blipFill>
        <p:spPr>
          <a:xfrm>
            <a:off x="8195825" y="86900"/>
            <a:ext cx="832675" cy="6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TextBox 77"/>
          <p:cNvSpPr txBox="1"/>
          <p:nvPr/>
        </p:nvSpPr>
        <p:spPr>
          <a:xfrm>
            <a:off x="384048" y="1298448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E7C9A"/>
                </a:solidFill>
                <a:latin typeface="Roboto Mono"/>
              </a:rPr>
              <a:t>PRACTICALITY, ROADMAP AND INCLUSIVITY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4048" y="1536192"/>
            <a:ext cx="83759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51C75"/>
                </a:solidFill>
                <a:latin typeface="Arial"/>
              </a:rPr>
              <a:t>A working prototype today, a path to real deployment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530352" y="2011680"/>
            <a:ext cx="8083296" cy="0"/>
          </a:xfrm>
          <a:prstGeom prst="line">
            <a:avLst/>
          </a:prstGeom>
          <a:ln w="25400">
            <a:solidFill>
              <a:srgbClr val="E1DD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/>
          <p:nvPr/>
        </p:nvSpPr>
        <p:spPr>
          <a:xfrm>
            <a:off x="1362456" y="1943100"/>
            <a:ext cx="137160" cy="137160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48056" y="2139696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1E8E5A"/>
                </a:solidFill>
                <a:latin typeface="Roboto Mono"/>
              </a:rPr>
              <a:t>NOW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48056" y="2359152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42228"/>
                </a:solidFill>
                <a:latin typeface="Arial"/>
              </a:rPr>
              <a:t>Round 1 prototype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8056" y="2651760"/>
            <a:ext cx="1965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30" b="0" i="0">
                <a:solidFill>
                  <a:srgbClr val="5B5763"/>
                </a:solidFill>
                <a:latin typeface="Arial"/>
              </a:rPr>
              <a:t>Validated on real data for one corridor: Malpe, Udupi, Manipal, Kaup.</a:t>
            </a:r>
          </a:p>
        </p:txBody>
      </p:sp>
      <p:sp>
        <p:nvSpPr>
          <p:cNvPr id="85" name="Oval 84"/>
          <p:cNvSpPr/>
          <p:nvPr/>
        </p:nvSpPr>
        <p:spPr>
          <a:xfrm>
            <a:off x="3456432" y="1943100"/>
            <a:ext cx="137160" cy="137160"/>
          </a:xfrm>
          <a:prstGeom prst="ellipse">
            <a:avLst/>
          </a:prstGeom>
          <a:solidFill>
            <a:srgbClr val="0E7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542032" y="2139696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0E7C9A"/>
                </a:solidFill>
                <a:latin typeface="Roboto Mono"/>
              </a:rPr>
              <a:t>NEXT 3 MO.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542032" y="2359152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42228"/>
                </a:solidFill>
                <a:latin typeface="Arial"/>
              </a:rPr>
              <a:t>Pilot partnership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542032" y="2651760"/>
            <a:ext cx="1965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30" b="0" i="0">
                <a:solidFill>
                  <a:srgbClr val="5B5763"/>
                </a:solidFill>
                <a:latin typeface="Arial"/>
              </a:rPr>
              <a:t>One municipal body; real data replaces estimates.</a:t>
            </a:r>
          </a:p>
        </p:txBody>
      </p:sp>
      <p:sp>
        <p:nvSpPr>
          <p:cNvPr id="89" name="Oval 88"/>
          <p:cNvSpPr/>
          <p:nvPr/>
        </p:nvSpPr>
        <p:spPr>
          <a:xfrm>
            <a:off x="5550408" y="1943100"/>
            <a:ext cx="137160" cy="137160"/>
          </a:xfrm>
          <a:prstGeom prst="ellipse">
            <a:avLst/>
          </a:prstGeom>
          <a:solidFill>
            <a:srgbClr val="C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636008" y="2139696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C97A1F"/>
                </a:solidFill>
                <a:latin typeface="Roboto Mono"/>
              </a:rPr>
              <a:t>6 TO 12 MO.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636008" y="2359152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42228"/>
                </a:solidFill>
                <a:latin typeface="Arial"/>
              </a:rPr>
              <a:t>Live, multi-hazard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636008" y="2651760"/>
            <a:ext cx="1965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30" b="0" i="0">
                <a:solidFill>
                  <a:srgbClr val="5B5763"/>
                </a:solidFill>
                <a:latin typeface="Arial"/>
              </a:rPr>
              <a:t>Weather-API, sensors, automated alerts, new hazards.</a:t>
            </a:r>
          </a:p>
        </p:txBody>
      </p:sp>
      <p:sp>
        <p:nvSpPr>
          <p:cNvPr id="93" name="Oval 92"/>
          <p:cNvSpPr/>
          <p:nvPr/>
        </p:nvSpPr>
        <p:spPr>
          <a:xfrm>
            <a:off x="7644384" y="1943100"/>
            <a:ext cx="137160" cy="137160"/>
          </a:xfrm>
          <a:prstGeom prst="ellipse">
            <a:avLst/>
          </a:prstGeom>
          <a:solidFill>
            <a:srgbClr val="351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729984" y="2139696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1" i="0">
                <a:solidFill>
                  <a:srgbClr val="351C75"/>
                </a:solidFill>
                <a:latin typeface="Roboto Mono"/>
              </a:rPr>
              <a:t>12+ MO.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729984" y="2359152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42228"/>
                </a:solidFill>
                <a:latin typeface="Arial"/>
              </a:rPr>
              <a:t>Multi-city rollout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729984" y="2651760"/>
            <a:ext cx="19659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30" b="0" i="0">
                <a:solidFill>
                  <a:srgbClr val="5B5763"/>
                </a:solidFill>
                <a:latin typeface="Arial"/>
              </a:rPr>
              <a:t>Same pipeline, replicated to new coastlines.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84048" y="3364992"/>
            <a:ext cx="83759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51C75"/>
                </a:solidFill>
                <a:latin typeface="Roboto Mono"/>
              </a:rPr>
              <a:t>INCLUSIVITY AND REAL-WORLD FIT</a:t>
            </a:r>
          </a:p>
        </p:txBody>
      </p:sp>
      <p:sp>
        <p:nvSpPr>
          <p:cNvPr id="98" name="Oval 97"/>
          <p:cNvSpPr/>
          <p:nvPr/>
        </p:nvSpPr>
        <p:spPr>
          <a:xfrm>
            <a:off x="384048" y="3602736"/>
            <a:ext cx="292608" cy="292608"/>
          </a:xfrm>
          <a:prstGeom prst="ellipse">
            <a:avLst/>
          </a:prstGeom>
          <a:solidFill>
            <a:srgbClr val="C4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=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86384" y="3593592"/>
            <a:ext cx="7973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42228"/>
                </a:solidFill>
                <a:latin typeface="Arial"/>
              </a:rPr>
              <a:t>Equity by design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86384" y="3776472"/>
            <a:ext cx="79735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5B5763"/>
                </a:solidFill>
                <a:latin typeface="Arial"/>
              </a:rPr>
              <a:t>The impact score itself weights vulnerable localities higher, by construction, not as an add-on.</a:t>
            </a:r>
          </a:p>
        </p:txBody>
      </p:sp>
      <p:sp>
        <p:nvSpPr>
          <p:cNvPr id="101" name="Oval 100"/>
          <p:cNvSpPr/>
          <p:nvPr/>
        </p:nvSpPr>
        <p:spPr>
          <a:xfrm>
            <a:off x="384048" y="3986784"/>
            <a:ext cx="292608" cy="292608"/>
          </a:xfrm>
          <a:prstGeom prst="ellipse">
            <a:avLst/>
          </a:prstGeom>
          <a:solidFill>
            <a:srgbClr val="0E7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$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86384" y="3977640"/>
            <a:ext cx="7973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42228"/>
                </a:solidFill>
                <a:latin typeface="Arial"/>
              </a:rPr>
              <a:t>Priced for who needs it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86384" y="4160520"/>
            <a:ext cx="79735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5B5763"/>
                </a:solidFill>
                <a:latin typeface="Arial"/>
              </a:rPr>
              <a:t>Slider-based, usable by field disaster-response staff, not a specialist GIS tool few can afford.</a:t>
            </a:r>
          </a:p>
        </p:txBody>
      </p:sp>
      <p:sp>
        <p:nvSpPr>
          <p:cNvPr id="104" name="Oval 103"/>
          <p:cNvSpPr/>
          <p:nvPr/>
        </p:nvSpPr>
        <p:spPr>
          <a:xfrm>
            <a:off x="384048" y="4370832"/>
            <a:ext cx="292608" cy="292608"/>
          </a:xfrm>
          <a:prstGeom prst="ellipse">
            <a:avLst/>
          </a:prstGeom>
          <a:solidFill>
            <a:srgbClr val="C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86384" y="4361688"/>
            <a:ext cx="7973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42228"/>
                </a:solidFill>
                <a:latin typeface="Arial"/>
              </a:rPr>
              <a:t>Honest about confidence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86384" y="4544568"/>
            <a:ext cx="79735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5B5763"/>
                </a:solidFill>
                <a:latin typeface="Arial"/>
              </a:rPr>
              <a:t>Verified positions are marked separately from estimates, useful even where clean data does not exist.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51C75"/>
                </a:solidFill>
                <a:latin typeface="Impact"/>
                <a:ea typeface="Impact"/>
                <a:cs typeface="Impact"/>
                <a:sym typeface="Impact"/>
              </a:rPr>
              <a:t>Business Strategy</a:t>
            </a:r>
            <a:endParaRPr>
              <a:solidFill>
                <a:srgbClr val="351C7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3">
            <a:alphaModFix/>
          </a:blip>
          <a:srcRect l="10"/>
          <a:stretch/>
        </p:blipFill>
        <p:spPr>
          <a:xfrm>
            <a:off x="8195825" y="86900"/>
            <a:ext cx="832675" cy="6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TextBox 84"/>
          <p:cNvSpPr txBox="1"/>
          <p:nvPr/>
        </p:nvSpPr>
        <p:spPr>
          <a:xfrm>
            <a:off x="384048" y="1298448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E7C9A"/>
                </a:solidFill>
                <a:latin typeface="Roboto Mono"/>
              </a:rPr>
              <a:t>MARKETING, MONETISATION AND SUSTAINABILITY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4048" y="1536192"/>
            <a:ext cx="83759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51C75"/>
                </a:solidFill>
                <a:latin typeface="Arial"/>
              </a:rPr>
              <a:t>Sell to who already owns this problem, on three revenue lines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4048" y="1901952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E7C9A"/>
                </a:solidFill>
                <a:latin typeface="Roboto Mono"/>
              </a:rPr>
              <a:t>TARGET AUDIENCE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84048" y="2121408"/>
            <a:ext cx="4023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 i="0">
                <a:solidFill>
                  <a:srgbClr val="5B5763"/>
                </a:solidFill>
                <a:latin typeface="Arial"/>
              </a:rPr>
              <a:t>Primary: district and state disaster-management authorities.</a:t>
            </a:r>
          </a:p>
          <a:p>
            <a:pPr algn="l">
              <a:lnSpc>
                <a:spcPct val="125000"/>
              </a:lnSpc>
            </a:pPr>
            <a:r>
              <a:rPr sz="930" b="0" i="0">
                <a:solidFill>
                  <a:srgbClr val="5B5763"/>
                </a:solidFill>
                <a:latin typeface="Arial"/>
              </a:rPr>
              <a:t>Secondary: urban planning consultancies.</a:t>
            </a:r>
          </a:p>
          <a:p>
            <a:pPr algn="l">
              <a:lnSpc>
                <a:spcPct val="125000"/>
              </a:lnSpc>
            </a:pPr>
            <a:r>
              <a:rPr sz="930" b="0" i="0">
                <a:solidFill>
                  <a:srgbClr val="5B5763"/>
                </a:solidFill>
                <a:latin typeface="Arial"/>
              </a:rPr>
              <a:t>Tertiary: infrastructure insurers pricing flood risk.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700016" y="1901952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4453A"/>
                </a:solidFill>
                <a:latin typeface="Roboto Mono"/>
              </a:rPr>
              <a:t>OUTREACH PLAN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700016" y="2121408"/>
            <a:ext cx="4023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 i="0">
                <a:solidFill>
                  <a:srgbClr val="5B5763"/>
                </a:solidFill>
                <a:latin typeface="Arial"/>
              </a:rPr>
              <a:t>Pilot with Udupi's own district disaster-management authority, our own map's geography.</a:t>
            </a:r>
          </a:p>
          <a:p>
            <a:pPr algn="l">
              <a:lnSpc>
                <a:spcPct val="125000"/>
              </a:lnSpc>
            </a:pPr>
            <a:r>
              <a:rPr sz="930" b="0" i="0">
                <a:solidFill>
                  <a:srgbClr val="5B5763"/>
                </a:solidFill>
                <a:latin typeface="Arial"/>
              </a:rPr>
              <a:t>Open-source the engine for developer adoption.</a:t>
            </a:r>
          </a:p>
          <a:p>
            <a:pPr algn="l">
              <a:lnSpc>
                <a:spcPct val="125000"/>
              </a:lnSpc>
            </a:pPr>
            <a:r>
              <a:rPr sz="930" b="0" i="0">
                <a:solidFill>
                  <a:srgbClr val="5B5763"/>
                </a:solidFill>
                <a:latin typeface="Arial"/>
              </a:rPr>
              <a:t>Presence at Smart Cities Mission and AMRUT 2.0 forums.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84048" y="3127248"/>
            <a:ext cx="2679192" cy="1115568"/>
          </a:xfrm>
          <a:prstGeom prst="roundRect">
            <a:avLst>
              <a:gd name="adj" fmla="val 10000"/>
            </a:avLst>
          </a:prstGeom>
          <a:solidFill>
            <a:srgbClr val="F5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530352" y="3273552"/>
            <a:ext cx="292608" cy="292608"/>
          </a:xfrm>
          <a:prstGeom prst="ellipse">
            <a:avLst/>
          </a:prstGeom>
          <a:solidFill>
            <a:srgbClr val="0E7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0352" y="3529584"/>
            <a:ext cx="23865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42228"/>
                </a:solidFill>
                <a:latin typeface="Arial"/>
              </a:rPr>
              <a:t>B2G SaaS licensing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352" y="3877056"/>
            <a:ext cx="23865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40" b="0" i="0">
                <a:solidFill>
                  <a:srgbClr val="5B5763"/>
                </a:solidFill>
                <a:latin typeface="Arial"/>
              </a:rPr>
              <a:t>Per-city annual licence, tiered by assets modeled.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204972" y="3127248"/>
            <a:ext cx="2679192" cy="1115568"/>
          </a:xfrm>
          <a:prstGeom prst="roundRect">
            <a:avLst>
              <a:gd name="adj" fmla="val 10000"/>
            </a:avLst>
          </a:prstGeom>
          <a:solidFill>
            <a:srgbClr val="F5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3351276" y="3273552"/>
            <a:ext cx="292608" cy="292608"/>
          </a:xfrm>
          <a:prstGeom prst="ellipse">
            <a:avLst/>
          </a:prstGeom>
          <a:solidFill>
            <a:srgbClr val="C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351276" y="3529584"/>
            <a:ext cx="23865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42228"/>
                </a:solidFill>
                <a:latin typeface="Arial"/>
              </a:rPr>
              <a:t>Data onboarding and consulting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351276" y="3877056"/>
            <a:ext cx="23865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40" b="0" i="0">
                <a:solidFill>
                  <a:srgbClr val="5B5763"/>
                </a:solidFill>
                <a:latin typeface="Arial"/>
              </a:rPr>
              <a:t>Paid engagement to ingest a city's real dependency data.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025896" y="3127248"/>
            <a:ext cx="2679192" cy="1115568"/>
          </a:xfrm>
          <a:prstGeom prst="roundRect">
            <a:avLst>
              <a:gd name="adj" fmla="val 10000"/>
            </a:avLst>
          </a:prstGeom>
          <a:solidFill>
            <a:srgbClr val="F5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6172200" y="3273552"/>
            <a:ext cx="292608" cy="292608"/>
          </a:xfrm>
          <a:prstGeom prst="ellipse">
            <a:avLst/>
          </a:prstGeom>
          <a:solidFill>
            <a:srgbClr val="C4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172200" y="3529584"/>
            <a:ext cx="23865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42228"/>
                </a:solidFill>
                <a:latin typeface="Arial"/>
              </a:rPr>
              <a:t>Insurer data licensing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72200" y="3877056"/>
            <a:ext cx="23865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40" b="0" i="0">
                <a:solidFill>
                  <a:srgbClr val="5B5763"/>
                </a:solidFill>
                <a:latin typeface="Arial"/>
              </a:rPr>
              <a:t>Longer term: flood-risk scoring as a data product.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84048" y="4443984"/>
            <a:ext cx="837590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69" b="0" i="0">
                <a:solidFill>
                  <a:srgbClr val="5B5763"/>
                </a:solidFill>
                <a:latin typeface="Arial"/>
              </a:rPr>
              <a:t>The open-core engine stays free for adoption and research credibility; onboarding a new city is largely configuration, not new development, so three independent revenue lines reduce dependence on any one source.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658</Words>
  <Application>Microsoft Office PowerPoint</Application>
  <PresentationFormat>On-screen Show (16:9)</PresentationFormat>
  <Paragraphs>92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Impact</vt:lpstr>
      <vt:lpstr>Arial</vt:lpstr>
      <vt:lpstr>Roboto Mono</vt:lpstr>
      <vt:lpstr>Simple Light</vt:lpstr>
      <vt:lpstr>Manipal Hackathon 2026</vt:lpstr>
      <vt:lpstr>Solution</vt:lpstr>
      <vt:lpstr>Technical Implementation</vt:lpstr>
      <vt:lpstr>Feasibility</vt:lpstr>
      <vt:lpstr>Business Strategy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Sagnik Basu</cp:lastModifiedBy>
  <cp:revision>1</cp:revision>
  <dcterms:modified xsi:type="dcterms:W3CDTF">2026-09-15T19:47:39Z</dcterms:modified>
</cp:coreProperties>
</file>